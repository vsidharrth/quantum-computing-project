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7"/>
  </p:notesMasterIdLst>
  <p:sldIdLst>
    <p:sldId id="256" r:id="rId5"/>
    <p:sldId id="299" r:id="rId6"/>
    <p:sldId id="257" r:id="rId7"/>
    <p:sldId id="300" r:id="rId8"/>
    <p:sldId id="304" r:id="rId9"/>
    <p:sldId id="303" r:id="rId10"/>
    <p:sldId id="294" r:id="rId11"/>
    <p:sldId id="305" r:id="rId12"/>
    <p:sldId id="296" r:id="rId13"/>
    <p:sldId id="295" r:id="rId14"/>
    <p:sldId id="297" r:id="rId15"/>
    <p:sldId id="307" r:id="rId16"/>
    <p:sldId id="308" r:id="rId17"/>
    <p:sldId id="309" r:id="rId18"/>
    <p:sldId id="310" r:id="rId19"/>
    <p:sldId id="312" r:id="rId20"/>
    <p:sldId id="311" r:id="rId21"/>
    <p:sldId id="301" r:id="rId22"/>
    <p:sldId id="306" r:id="rId23"/>
    <p:sldId id="302" r:id="rId24"/>
    <p:sldId id="298" r:id="rId25"/>
    <p:sldId id="293" r:id="rId26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F729E-7737-BC55-FC4C-6C1360086251}" v="9" dt="2025-11-18T04:45:37.082"/>
    <p1510:client id="{5C3D003B-8FF3-07AF-963B-BE30FBAB9E81}" v="1754" dt="2025-11-18T05:05:20.169"/>
    <p1510:client id="{90B7BE4A-1785-4C2B-8EBE-403CAF76F79E}" v="2" dt="2025-11-18T02:11:30.176"/>
    <p1510:client id="{BB388C08-F98C-5908-F3E3-C6F2A151D3CF}" v="4" dt="2025-11-18T05:46:11.06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62000" y="1123121"/>
            <a:ext cx="7696200" cy="9144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/>
              <a:t> </a:t>
            </a:r>
            <a:r>
              <a:rPr lang="en-US" sz="3200"/>
              <a:t>Quantum-Classical</a:t>
            </a:r>
            <a:r>
              <a:rPr lang="en-IN" sz="3200"/>
              <a:t> Hybrid </a:t>
            </a:r>
            <a:r>
              <a:rPr lang="fr-FR" sz="3200"/>
              <a:t>Classification for Malaria </a:t>
            </a:r>
            <a:r>
              <a:rPr lang="fr-FR" sz="3200" err="1"/>
              <a:t>Cell</a:t>
            </a:r>
            <a:r>
              <a:rPr lang="fr-FR" sz="3200"/>
              <a:t> Images </a:t>
            </a:r>
            <a:endParaRPr lang="en-IN" sz="3600" b="0"/>
          </a:p>
        </p:txBody>
      </p:sp>
      <p:sp>
        <p:nvSpPr>
          <p:cNvPr id="132" name="Rectangle"/>
          <p:cNvSpPr/>
          <p:nvPr/>
        </p:nvSpPr>
        <p:spPr>
          <a:xfrm>
            <a:off x="1295400" y="208721"/>
            <a:ext cx="6858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2800">
                <a:latin typeface="+mn-lt"/>
                <a:ea typeface="+mn-ea"/>
                <a:cs typeface="+mn-cs"/>
                <a:sym typeface="Arial"/>
              </a:defRPr>
            </a:pPr>
            <a:r>
              <a:rPr lang="en-US"/>
              <a:t>23AID303 – Quantum Computing and Applications</a:t>
            </a:r>
            <a:endParaRPr/>
          </a:p>
        </p:txBody>
      </p:sp>
      <p:grpSp>
        <p:nvGrpSpPr>
          <p:cNvPr id="135" name="Group"/>
          <p:cNvGrpSpPr/>
          <p:nvPr/>
        </p:nvGrpSpPr>
        <p:grpSpPr>
          <a:xfrm>
            <a:off x="1053548" y="2149753"/>
            <a:ext cx="7455541" cy="3585126"/>
            <a:chOff x="0" y="0"/>
            <a:chExt cx="8097814" cy="3788886"/>
          </a:xfrm>
        </p:grpSpPr>
        <p:sp>
          <p:nvSpPr>
            <p:cNvPr id="133" name="Rectangle"/>
            <p:cNvSpPr/>
            <p:nvPr/>
          </p:nvSpPr>
          <p:spPr>
            <a:xfrm>
              <a:off x="0" y="0"/>
              <a:ext cx="8097814" cy="378888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  <p:sp>
          <p:nvSpPr>
            <p:cNvPr id="134" name="Team Members     Group No: 13…"/>
            <p:cNvSpPr txBox="1"/>
            <p:nvPr/>
          </p:nvSpPr>
          <p:spPr>
            <a:xfrm>
              <a:off x="44575" y="344557"/>
              <a:ext cx="8008664" cy="3198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lang="en-US"/>
                <a:t>Team Number: 05</a:t>
              </a:r>
              <a:r>
                <a:rPr b="0"/>
                <a:t>		</a:t>
              </a:r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</p:txBody>
        </p:sp>
      </p:grp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4238082673"/>
              </p:ext>
            </p:extLst>
          </p:nvPr>
        </p:nvGraphicFramePr>
        <p:xfrm>
          <a:off x="1406038" y="3429000"/>
          <a:ext cx="6408124" cy="1512473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41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7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</a:t>
                      </a: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.EN.U4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AID23006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G Rajath Siddarth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BL.EN.U4AID23054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V. </a:t>
                      </a:r>
                      <a:r>
                        <a:rPr lang="en-US" sz="140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Sidharrth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74604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BL.EN.U4AID23063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Paruchuri Sai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02672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EE9BD1-653D-183E-D37E-4FA2AD7E136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EEDB07-24A0-87A4-203B-FB2AB897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812387"/>
          </a:xfrm>
        </p:spPr>
        <p:txBody>
          <a:bodyPr/>
          <a:lstStyle/>
          <a:p>
            <a:r>
              <a:rPr lang="en-US"/>
              <a:t>Introduction/Motivation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A5FC0-47B0-D9C4-DECC-0630A4C4AF2A}"/>
              </a:ext>
            </a:extLst>
          </p:cNvPr>
          <p:cNvSpPr txBox="1"/>
          <p:nvPr/>
        </p:nvSpPr>
        <p:spPr>
          <a:xfrm>
            <a:off x="862314" y="1331090"/>
            <a:ext cx="7824486" cy="47089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/>
              <a:t>Malaria remains a global health issue.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/>
              <a:t>Microscopic blood-smear cell images used for diagnosis.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/>
              <a:t> Deep learning is effective; quantum methods emerging.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0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000"/>
              <a:t>Goal: Apply hybrid quantum- classical classification on the Kaggle dataset.</a:t>
            </a:r>
          </a:p>
        </p:txBody>
      </p:sp>
    </p:spTree>
    <p:extLst>
      <p:ext uri="{BB962C8B-B14F-4D97-AF65-F5344CB8AC3E}">
        <p14:creationId xmlns:p14="http://schemas.microsoft.com/office/powerpoint/2010/main" val="258871703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1086678" y="304800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Problem</a:t>
            </a:r>
            <a:r>
              <a:rPr lang="en-IN"/>
              <a:t> Statement</a:t>
            </a:r>
            <a:endParaRPr/>
          </a:p>
        </p:txBody>
      </p:sp>
      <p:sp>
        <p:nvSpPr>
          <p:cNvPr id="144" name="Introduction…"/>
          <p:cNvSpPr/>
          <p:nvPr/>
        </p:nvSpPr>
        <p:spPr>
          <a:xfrm>
            <a:off x="660698" y="2474887"/>
            <a:ext cx="7949902" cy="14978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r>
              <a:rPr lang="en-IN" sz="2800" b="1"/>
              <a:t>Problem definition: </a:t>
            </a:r>
            <a:r>
              <a:rPr lang="en-IN" sz="2800"/>
              <a:t>Binary classification of RBC</a:t>
            </a:r>
            <a:endParaRPr lang="en-US"/>
          </a:p>
          <a:p>
            <a:r>
              <a:rPr lang="en-IN" sz="2800"/>
              <a:t> images as Infected or Uninfected.</a:t>
            </a:r>
            <a:endParaRPr lang="en-IN"/>
          </a:p>
          <a:p>
            <a:pPr>
              <a:spcBef>
                <a:spcPts val="400"/>
              </a:spcBef>
              <a:buClr>
                <a:srgbClr val="6699FF"/>
              </a:buClr>
              <a:buSzPct val="100000"/>
              <a:defRPr sz="2000"/>
            </a:pPr>
            <a:endParaRPr sz="320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759B49-428A-459A-2243-4BE36DFC2A5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BDD4D8-9C32-28A6-C6F1-1F03DB098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792509"/>
          </a:xfrm>
        </p:spPr>
        <p:txBody>
          <a:bodyPr/>
          <a:lstStyle/>
          <a:p>
            <a:r>
              <a:rPr lang="en-US"/>
              <a:t>Proposed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960DF-3C2D-D158-F395-8253F6611D46}"/>
              </a:ext>
            </a:extLst>
          </p:cNvPr>
          <p:cNvSpPr txBox="1"/>
          <p:nvPr/>
        </p:nvSpPr>
        <p:spPr>
          <a:xfrm>
            <a:off x="760445" y="1704108"/>
            <a:ext cx="8385110" cy="35394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Objectives:</a:t>
            </a:r>
          </a:p>
          <a:p>
            <a:pPr>
              <a:defRPr/>
            </a:pPr>
            <a:endParaRPr lang="en-IN" sz="3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Build classical &amp; hybrid quantum models</a:t>
            </a:r>
            <a:r>
              <a:rPr lang="en-IN" sz="32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.</a:t>
            </a:r>
            <a:endParaRPr lang="en-IN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IN" sz="3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Compare accuracy, F1-score, AUC, etc.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indent="-457200" hangingPunct="1">
              <a:buFont typeface="Arial" panose="020B0604020202020204" pitchFamily="34" charset="0"/>
              <a:buChar char="•"/>
              <a:defRPr/>
            </a:pPr>
            <a:r>
              <a:rPr kumimoji="0" lang="en-IN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Analyze</a:t>
            </a:r>
            <a:r>
              <a:rPr kumimoji="0" lang="en-IN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resource usage (parameters,</a:t>
            </a:r>
            <a:r>
              <a:rPr lang="en-IN" sz="32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 </a:t>
            </a:r>
            <a:r>
              <a:rPr kumimoji="0" lang="en-IN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qubits</a:t>
            </a:r>
            <a:r>
              <a:rPr lang="en-IN" sz="3200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).</a:t>
            </a:r>
            <a:endParaRPr lang="en-IN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897277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892D1-E01E-6D6A-9FDF-EA826A679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721F7-2E8F-E697-A0B2-BE2C14C6600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ABC9EE-35D8-2779-A0F1-3C4774D3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792509"/>
          </a:xfrm>
        </p:spPr>
        <p:txBody>
          <a:bodyPr lIns="45719" tIns="45720" rIns="45719" bIns="45720" anchor="ctr"/>
          <a:lstStyle/>
          <a:p>
            <a:r>
              <a:rPr lang="en-US" sz="3200"/>
              <a:t>Dataset Details</a:t>
            </a:r>
            <a:r>
              <a:rPr lang="en-US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FDD99-29C0-4B94-713F-8C90B78D424D}"/>
              </a:ext>
            </a:extLst>
          </p:cNvPr>
          <p:cNvSpPr txBox="1"/>
          <p:nvPr/>
        </p:nvSpPr>
        <p:spPr>
          <a:xfrm>
            <a:off x="726633" y="1482827"/>
            <a:ext cx="7949682" cy="44627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>
                <a:latin typeface="Arial"/>
              </a:rPr>
              <a:t>Dataset:</a:t>
            </a:r>
            <a:r>
              <a:rPr lang="en-IN" sz="2800">
                <a:latin typeface="Arial"/>
              </a:rPr>
              <a:t> Kaggle Cell Images for Detecting Malaria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>
              <a:latin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>
                <a:latin typeface="Arial"/>
              </a:rPr>
              <a:t>Total</a:t>
            </a:r>
            <a:r>
              <a:rPr lang="en-IN" sz="2800">
                <a:latin typeface="Arial"/>
              </a:rPr>
              <a:t>: 27,558 images (balanced)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>
              <a:latin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>
                <a:latin typeface="Arial"/>
              </a:rPr>
              <a:t>Source</a:t>
            </a:r>
            <a:r>
              <a:rPr lang="en-IN" sz="2800">
                <a:latin typeface="Arial"/>
              </a:rPr>
              <a:t>: NIH blood smear dataset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>
              <a:latin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>
                <a:latin typeface="Arial"/>
              </a:rPr>
              <a:t>Preprocessing</a:t>
            </a:r>
            <a:r>
              <a:rPr lang="en-IN" sz="2800">
                <a:latin typeface="Arial"/>
              </a:rPr>
              <a:t>: resize, normalize, augment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>
              <a:latin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>
                <a:latin typeface="Arial"/>
              </a:rPr>
              <a:t>Common sizes</a:t>
            </a:r>
            <a:r>
              <a:rPr lang="en-IN" sz="2800">
                <a:latin typeface="Arial"/>
              </a:rPr>
              <a:t>: 64x64 or 128x128 pixels</a:t>
            </a:r>
          </a:p>
        </p:txBody>
      </p:sp>
    </p:spTree>
    <p:extLst>
      <p:ext uri="{BB962C8B-B14F-4D97-AF65-F5344CB8AC3E}">
        <p14:creationId xmlns:p14="http://schemas.microsoft.com/office/powerpoint/2010/main" val="89699338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D0DA3-236C-7F51-9F90-FE847BBD2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9DE1F50E-4128-92D6-4F9E-613BDA20693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142" name="Rectangle">
            <a:extLst>
              <a:ext uri="{FF2B5EF4-FFF2-40B4-BE49-F238E27FC236}">
                <a16:creationId xmlns:a16="http://schemas.microsoft.com/office/drawing/2014/main" id="{1547B56B-5CD7-A6BC-3F8F-3B33633E1638}"/>
              </a:ext>
            </a:extLst>
          </p:cNvPr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2800">
                <a:latin typeface="+mn-lt"/>
                <a:ea typeface="+mn-ea"/>
                <a:cs typeface="+mn-cs"/>
                <a:sym typeface="Arial"/>
              </a:defRPr>
            </a:pPr>
            <a:r>
              <a:rPr lang="en-US"/>
              <a:t>Literature Review</a:t>
            </a:r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B40125-472B-9650-394B-4372697C0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906762"/>
              </p:ext>
            </p:extLst>
          </p:nvPr>
        </p:nvGraphicFramePr>
        <p:xfrm>
          <a:off x="566256" y="1499532"/>
          <a:ext cx="8059475" cy="4497596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1333849">
                  <a:extLst>
                    <a:ext uri="{9D8B030D-6E8A-4147-A177-3AD203B41FA5}">
                      <a16:colId xmlns:a16="http://schemas.microsoft.com/office/drawing/2014/main" val="1344822225"/>
                    </a:ext>
                  </a:extLst>
                </a:gridCol>
                <a:gridCol w="2453780">
                  <a:extLst>
                    <a:ext uri="{9D8B030D-6E8A-4147-A177-3AD203B41FA5}">
                      <a16:colId xmlns:a16="http://schemas.microsoft.com/office/drawing/2014/main" val="4234521255"/>
                    </a:ext>
                  </a:extLst>
                </a:gridCol>
                <a:gridCol w="2256977">
                  <a:extLst>
                    <a:ext uri="{9D8B030D-6E8A-4147-A177-3AD203B41FA5}">
                      <a16:colId xmlns:a16="http://schemas.microsoft.com/office/drawing/2014/main" val="1794949229"/>
                    </a:ext>
                  </a:extLst>
                </a:gridCol>
                <a:gridCol w="2014869">
                  <a:extLst>
                    <a:ext uri="{9D8B030D-6E8A-4147-A177-3AD203B41FA5}">
                      <a16:colId xmlns:a16="http://schemas.microsoft.com/office/drawing/2014/main" val="1077782811"/>
                    </a:ext>
                  </a:extLst>
                </a:gridCol>
              </a:tblGrid>
              <a:tr h="2986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940410"/>
                  </a:ext>
                </a:extLst>
              </a:tr>
              <a:tr h="933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Malaria Cell Image Classification Using Deep Convolutional Neural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CNN with multiple convolutional layers; 80–20 train-test split; Adam 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Achieved ~96% accuracy for classifying parasitized vs. uninfected cells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1634456"/>
                  </a:ext>
                </a:extLst>
              </a:tr>
              <a:tr h="933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Transfer Learning for Malaria Cell Detection using VGG16 and 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Fine-tuning pre-trained VGG16 and ResNet50; data augmentation to reduce 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ResNet50 achieved 97.1% accuracy, outperforming CNN and SVM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845676"/>
                  </a:ext>
                </a:extLst>
              </a:tr>
              <a:tr h="11447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2019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Malaria Parasite Detection Using Image Segmentation and Classical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Segmentation + handcrafted features (GLCM, LBP) used with Random Forest, SVM, 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SVM achieved best performance with 92%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966419"/>
                  </a:ext>
                </a:extLst>
              </a:tr>
              <a:tr h="11447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Efficient Malaria Detection Using CNN with Batch Normalization and Dropout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Custom CNN with dropout and batch normalization to improve generalization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Achieved 95.8% accuracy with reduced overfitting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365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32583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0E97B-631E-CEA9-0274-59B5FCD2F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8606488C-0662-C716-FD83-23B24FCBC1F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42" name="Rectangle">
            <a:extLst>
              <a:ext uri="{FF2B5EF4-FFF2-40B4-BE49-F238E27FC236}">
                <a16:creationId xmlns:a16="http://schemas.microsoft.com/office/drawing/2014/main" id="{383EA555-EBD3-712F-D355-CC74CA255D86}"/>
              </a:ext>
            </a:extLst>
          </p:cNvPr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2800">
                <a:latin typeface="+mn-lt"/>
                <a:ea typeface="+mn-ea"/>
                <a:cs typeface="+mn-cs"/>
                <a:sym typeface="Arial"/>
              </a:defRPr>
            </a:pPr>
            <a:r>
              <a:rPr lang="en-US"/>
              <a:t>Literature Review</a:t>
            </a: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659DF9-CE0B-03C9-72D3-4A51C540B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566185"/>
              </p:ext>
            </p:extLst>
          </p:nvPr>
        </p:nvGraphicFramePr>
        <p:xfrm>
          <a:off x="597715" y="1426128"/>
          <a:ext cx="8037129" cy="4552498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1101319">
                  <a:extLst>
                    <a:ext uri="{9D8B030D-6E8A-4147-A177-3AD203B41FA5}">
                      <a16:colId xmlns:a16="http://schemas.microsoft.com/office/drawing/2014/main" val="1186553369"/>
                    </a:ext>
                  </a:extLst>
                </a:gridCol>
                <a:gridCol w="2396195">
                  <a:extLst>
                    <a:ext uri="{9D8B030D-6E8A-4147-A177-3AD203B41FA5}">
                      <a16:colId xmlns:a16="http://schemas.microsoft.com/office/drawing/2014/main" val="3369291269"/>
                    </a:ext>
                  </a:extLst>
                </a:gridCol>
                <a:gridCol w="2530333">
                  <a:extLst>
                    <a:ext uri="{9D8B030D-6E8A-4147-A177-3AD203B41FA5}">
                      <a16:colId xmlns:a16="http://schemas.microsoft.com/office/drawing/2014/main" val="3574351804"/>
                    </a:ext>
                  </a:extLst>
                </a:gridCol>
                <a:gridCol w="2009282">
                  <a:extLst>
                    <a:ext uri="{9D8B030D-6E8A-4147-A177-3AD203B41FA5}">
                      <a16:colId xmlns:a16="http://schemas.microsoft.com/office/drawing/2014/main" val="1174748136"/>
                    </a:ext>
                  </a:extLst>
                </a:gridCol>
              </a:tblGrid>
              <a:tr h="2912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9916117"/>
                  </a:ext>
                </a:extLst>
              </a:tr>
              <a:tr h="910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Hybrid CNN-SVM Model for Malaria Diagnosis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CNN for deep feature extraction and SVM for final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Outperformed standalone CNN (98.1% accuracy vs. 96.5%)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387243"/>
                  </a:ext>
                </a:extLst>
              </a:tr>
              <a:tr h="8132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Ensemble Learning for Malaria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Combined outputs of </a:t>
                      </a:r>
                      <a:r>
                        <a:rPr lang="en-GB" err="1"/>
                        <a:t>ResNet</a:t>
                      </a:r>
                      <a:r>
                        <a:rPr lang="en-GB"/>
                        <a:t>, </a:t>
                      </a:r>
                      <a:r>
                        <a:rPr lang="en-GB" err="1"/>
                        <a:t>DenseNet</a:t>
                      </a:r>
                      <a:r>
                        <a:rPr lang="en-GB"/>
                        <a:t>, and InceptionV3 using majority voting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Achieved 98.7% accuracy with improved stability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873515"/>
                  </a:ext>
                </a:extLst>
              </a:tr>
              <a:tr h="9103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Explainable Malaria Detection with Grad-CAM on ResNet50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Used Grad-CAM on ResNet50 for interpretable predictions; tested on Kaggle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Achieved 97.5% accuracy with visual explanations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212086"/>
                  </a:ext>
                </a:extLst>
              </a:tr>
              <a:tr h="8132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Attention-based CNN for Malaria Cell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Added attention mechanism to CNN to focus on infected cell regions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Accuracy improved to 98.4%, surpassing baseline CNN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893293"/>
                  </a:ext>
                </a:extLst>
              </a:tr>
              <a:tr h="7039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Optimized CNN with Adaptive Learning Rate for Malaria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Used </a:t>
                      </a:r>
                      <a:r>
                        <a:rPr lang="en-GB" err="1"/>
                        <a:t>AdamW</a:t>
                      </a:r>
                      <a:r>
                        <a:rPr lang="en-GB"/>
                        <a:t> with cosine decay for dynamic learning rate adjustment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Achieved 99.1% accuracy with faster convergence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202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7799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3707A-E244-F45D-3FEC-0929AC19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9CCFA9DE-6419-8369-2FA1-6DFD9C840CA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42" name="Rectangle">
            <a:extLst>
              <a:ext uri="{FF2B5EF4-FFF2-40B4-BE49-F238E27FC236}">
                <a16:creationId xmlns:a16="http://schemas.microsoft.com/office/drawing/2014/main" id="{41D26794-8B51-5B35-C1F9-6972F8F8EEEA}"/>
              </a:ext>
            </a:extLst>
          </p:cNvPr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2800">
                <a:latin typeface="+mn-lt"/>
                <a:ea typeface="+mn-ea"/>
                <a:cs typeface="+mn-cs"/>
                <a:sym typeface="Arial"/>
              </a:defRPr>
            </a:pPr>
            <a:r>
              <a:rPr lang="en-US"/>
              <a:t>Literature Review</a:t>
            </a: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8D6F20-F5E2-DB2A-E90A-90F998DD5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638707"/>
              </p:ext>
            </p:extLst>
          </p:nvPr>
        </p:nvGraphicFramePr>
        <p:xfrm>
          <a:off x="587228" y="1604394"/>
          <a:ext cx="7961689" cy="4328160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1296099">
                  <a:extLst>
                    <a:ext uri="{9D8B030D-6E8A-4147-A177-3AD203B41FA5}">
                      <a16:colId xmlns:a16="http://schemas.microsoft.com/office/drawing/2014/main" val="3865192972"/>
                    </a:ext>
                  </a:extLst>
                </a:gridCol>
                <a:gridCol w="2684746">
                  <a:extLst>
                    <a:ext uri="{9D8B030D-6E8A-4147-A177-3AD203B41FA5}">
                      <a16:colId xmlns:a16="http://schemas.microsoft.com/office/drawing/2014/main" val="3956727813"/>
                    </a:ext>
                  </a:extLst>
                </a:gridCol>
                <a:gridCol w="1990422">
                  <a:extLst>
                    <a:ext uri="{9D8B030D-6E8A-4147-A177-3AD203B41FA5}">
                      <a16:colId xmlns:a16="http://schemas.microsoft.com/office/drawing/2014/main" val="552908680"/>
                    </a:ext>
                  </a:extLst>
                </a:gridCol>
                <a:gridCol w="1990422">
                  <a:extLst>
                    <a:ext uri="{9D8B030D-6E8A-4147-A177-3AD203B41FA5}">
                      <a16:colId xmlns:a16="http://schemas.microsoft.com/office/drawing/2014/main" val="2899787324"/>
                    </a:ext>
                  </a:extLst>
                </a:gridCol>
              </a:tblGrid>
              <a:tr h="4488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Methodology (Classical + Quantum / Hybrid)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Results / 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2544"/>
                  </a:ext>
                </a:extLst>
              </a:tr>
              <a:tr h="15654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Malaria Parasite Detection Using a Quantum-Convolutional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Classical preprocessing and localization → segmentation → hybrid classification where one branch uses quantum-convolutional layers; compared with a classical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Quantum-convolutional model reported 100% accuracy on a validation split; classical CNN achieved ~98–99%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69216"/>
                  </a:ext>
                </a:extLst>
              </a:tr>
              <a:tr h="10071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Quantum Convolutional Neural Networks for Malaria Cell Classification: A Comparative Study with Classical CNNs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Hybrid QCNN vs classical CNN on malaria cell classification using a standard Kaggle-like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Classical CNN outperformed QCNN: CNN ≈ 75% accuracy, QCNN ≈ 54%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9489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75299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2CD40-7639-9572-9B5B-8EE2F8A8D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E78B2A93-A01F-6525-6FB3-5E237B20212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41" name="Content">
            <a:extLst>
              <a:ext uri="{FF2B5EF4-FFF2-40B4-BE49-F238E27FC236}">
                <a16:creationId xmlns:a16="http://schemas.microsoft.com/office/drawing/2014/main" id="{92E8960F-4FE1-A8FA-0EFA-A8DE3E938E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245766"/>
            <a:ext cx="7793372" cy="4588504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b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/>
          </a:p>
        </p:txBody>
      </p:sp>
      <p:sp>
        <p:nvSpPr>
          <p:cNvPr id="142" name="Rectangle">
            <a:extLst>
              <a:ext uri="{FF2B5EF4-FFF2-40B4-BE49-F238E27FC236}">
                <a16:creationId xmlns:a16="http://schemas.microsoft.com/office/drawing/2014/main" id="{54E88175-B098-07F3-509E-10F5DB09698B}"/>
              </a:ext>
            </a:extLst>
          </p:cNvPr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2800">
                <a:latin typeface="+mn-lt"/>
                <a:ea typeface="+mn-ea"/>
                <a:cs typeface="+mn-cs"/>
                <a:sym typeface="Arial"/>
              </a:defRPr>
            </a:pPr>
            <a:r>
              <a:rPr lang="en-US"/>
              <a:t>System Architecture</a:t>
            </a:r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AE86704-E045-685F-AB1B-977F1787B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81862" y="1245766"/>
            <a:ext cx="3367507" cy="505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68407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E8970-4E76-9108-B134-4AAC8001D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9133D096-C280-273D-58AC-F2402ABDAC6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141" name="Content">
            <a:extLst>
              <a:ext uri="{FF2B5EF4-FFF2-40B4-BE49-F238E27FC236}">
                <a16:creationId xmlns:a16="http://schemas.microsoft.com/office/drawing/2014/main" id="{14F3DA9D-F15D-702D-E68A-9D519AC125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371600"/>
            <a:ext cx="7772400" cy="446267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b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/>
          </a:p>
        </p:txBody>
      </p:sp>
      <p:sp>
        <p:nvSpPr>
          <p:cNvPr id="142" name="Rectangle">
            <a:extLst>
              <a:ext uri="{FF2B5EF4-FFF2-40B4-BE49-F238E27FC236}">
                <a16:creationId xmlns:a16="http://schemas.microsoft.com/office/drawing/2014/main" id="{B64370DB-4E2C-B52E-236D-72C2FA8DE573}"/>
              </a:ext>
            </a:extLst>
          </p:cNvPr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2800">
                <a:latin typeface="+mn-lt"/>
                <a:ea typeface="+mn-ea"/>
                <a:cs typeface="+mn-cs"/>
                <a:sym typeface="Arial"/>
              </a:defRPr>
            </a:pPr>
            <a:r>
              <a:rPr lang="en-US"/>
              <a:t>Methodology/Design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78EEE-2F0D-1B2D-4740-78B3AF5FBA2E}"/>
              </a:ext>
            </a:extLst>
          </p:cNvPr>
          <p:cNvSpPr txBox="1"/>
          <p:nvPr/>
        </p:nvSpPr>
        <p:spPr>
          <a:xfrm>
            <a:off x="8386547" y="1719194"/>
            <a:ext cx="4835720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70899AD-6D63-8271-0B45-800A542E9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8600" y="1372637"/>
            <a:ext cx="5384713" cy="55622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312ACC-8385-DB55-82C3-55C2FD3A06CA}"/>
              </a:ext>
            </a:extLst>
          </p:cNvPr>
          <p:cNvSpPr txBox="1"/>
          <p:nvPr/>
        </p:nvSpPr>
        <p:spPr>
          <a:xfrm>
            <a:off x="2887727" y="763972"/>
            <a:ext cx="3663667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/>
              <a:t>Hybrid CNN Architecture</a:t>
            </a:r>
            <a:endParaRPr lang="en-GB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226828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BE9F1-6842-8454-CA43-E2A530498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9D6D3B65-D4CD-961C-727E-C4CBC5A9301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141" name="Content">
            <a:extLst>
              <a:ext uri="{FF2B5EF4-FFF2-40B4-BE49-F238E27FC236}">
                <a16:creationId xmlns:a16="http://schemas.microsoft.com/office/drawing/2014/main" id="{B5C5928D-679B-E427-9282-65ACB3996B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371600"/>
            <a:ext cx="7772400" cy="446267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b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/>
          </a:p>
        </p:txBody>
      </p:sp>
      <p:sp>
        <p:nvSpPr>
          <p:cNvPr id="142" name="Rectangle">
            <a:extLst>
              <a:ext uri="{FF2B5EF4-FFF2-40B4-BE49-F238E27FC236}">
                <a16:creationId xmlns:a16="http://schemas.microsoft.com/office/drawing/2014/main" id="{E4CBD5DD-FF71-FC95-2197-818EB994C7CF}"/>
              </a:ext>
            </a:extLst>
          </p:cNvPr>
          <p:cNvSpPr/>
          <p:nvPr/>
        </p:nvSpPr>
        <p:spPr>
          <a:xfrm>
            <a:off x="1314371" y="447082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tIns="45720" rIns="45719" bIns="45720" anchor="ctr"/>
          <a:lstStyle/>
          <a:p>
            <a:pPr algn="ctr">
              <a:defRPr sz="2800">
                <a:latin typeface="+mn-lt"/>
                <a:ea typeface="+mn-ea"/>
                <a:cs typeface="+mn-cs"/>
                <a:sym typeface="Arial"/>
              </a:defRPr>
            </a:pPr>
            <a:r>
              <a:rPr lang="en-US" sz="2800">
                <a:sym typeface="Arial"/>
              </a:rPr>
              <a:t>Methodology/Design</a:t>
            </a:r>
          </a:p>
          <a:p>
            <a:pPr algn="ctr"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 lang="en-US" sz="280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1732A9-C68D-A93F-3159-A8461F0AE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0445" y="1236336"/>
            <a:ext cx="5055429" cy="50538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DDB325-546E-6182-9974-334996A7EFF2}"/>
              </a:ext>
            </a:extLst>
          </p:cNvPr>
          <p:cNvSpPr txBox="1"/>
          <p:nvPr/>
        </p:nvSpPr>
        <p:spPr>
          <a:xfrm>
            <a:off x="2697224" y="1135004"/>
            <a:ext cx="4100177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/>
              <a:t> Hybrid </a:t>
            </a:r>
            <a:r>
              <a:rPr lang="en-GB" sz="2400" err="1"/>
              <a:t>ResNet</a:t>
            </a:r>
            <a:r>
              <a:rPr lang="en-GB" sz="2400"/>
              <a:t> Architecture</a:t>
            </a:r>
            <a:endParaRPr lang="en-GB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105856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996C9-D60D-87C1-CC68-7CE897DA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24FF0A23-83BE-7D2F-86FD-9484090DD1C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141" name="Content">
            <a:extLst>
              <a:ext uri="{FF2B5EF4-FFF2-40B4-BE49-F238E27FC236}">
                <a16:creationId xmlns:a16="http://schemas.microsoft.com/office/drawing/2014/main" id="{6AFCD228-C386-1913-B1B4-EC6CFEEEB2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371600"/>
            <a:ext cx="7772400" cy="446267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l"/>
            <a:b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/>
          </a:p>
        </p:txBody>
      </p:sp>
      <p:sp>
        <p:nvSpPr>
          <p:cNvPr id="142" name="Rectangle">
            <a:extLst>
              <a:ext uri="{FF2B5EF4-FFF2-40B4-BE49-F238E27FC236}">
                <a16:creationId xmlns:a16="http://schemas.microsoft.com/office/drawing/2014/main" id="{75A0791A-55AF-7C71-28B3-C3966C1BEFA0}"/>
              </a:ext>
            </a:extLst>
          </p:cNvPr>
          <p:cNvSpPr/>
          <p:nvPr/>
        </p:nvSpPr>
        <p:spPr>
          <a:xfrm>
            <a:off x="1342827" y="447082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tIns="45720" rIns="45719" bIns="45720" anchor="ctr"/>
          <a:lstStyle/>
          <a:p>
            <a:pPr algn="ctr">
              <a:defRPr sz="2800">
                <a:latin typeface="+mn-lt"/>
                <a:ea typeface="+mn-ea"/>
                <a:cs typeface="+mn-cs"/>
                <a:sym typeface="Arial"/>
              </a:defRPr>
            </a:pPr>
            <a:r>
              <a:rPr lang="en-US" sz="2800">
                <a:sym typeface="Arial"/>
              </a:rPr>
              <a:t>Methodology/Design</a:t>
            </a:r>
          </a:p>
          <a:p>
            <a:pPr algn="ctr"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 lang="en-US" sz="2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BFEC67-61BA-13DD-F157-39458E07799A}"/>
              </a:ext>
            </a:extLst>
          </p:cNvPr>
          <p:cNvSpPr txBox="1"/>
          <p:nvPr/>
        </p:nvSpPr>
        <p:spPr>
          <a:xfrm>
            <a:off x="3629817" y="1250885"/>
            <a:ext cx="4100177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81B1B0A-64F6-4FFF-3181-95C6346DC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7377" y="1602282"/>
            <a:ext cx="5549003" cy="4551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43F96B-9B61-61FA-2A37-D73FC3B627F8}"/>
              </a:ext>
            </a:extLst>
          </p:cNvPr>
          <p:cNvSpPr txBox="1"/>
          <p:nvPr/>
        </p:nvSpPr>
        <p:spPr>
          <a:xfrm>
            <a:off x="2594150" y="1136640"/>
            <a:ext cx="434633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/>
              <a:t>Hybrid </a:t>
            </a:r>
            <a:r>
              <a:rPr lang="en-GB" sz="2400" err="1"/>
              <a:t>MobileNet</a:t>
            </a:r>
            <a:r>
              <a:rPr lang="en-GB" sz="2400"/>
              <a:t> Architecture</a:t>
            </a:r>
            <a:endParaRPr lang="en-GB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3384903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19198-E013-5795-59F0-499810173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F63E5B-C78D-888A-3000-958F399157F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BD3718-9E71-C1B3-3965-35412964B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792509"/>
          </a:xfrm>
        </p:spPr>
        <p:txBody>
          <a:bodyPr lIns="45719" tIns="45720" rIns="45719" bIns="45720" anchor="ctr"/>
          <a:lstStyle/>
          <a:p>
            <a:r>
              <a:rPr lang="en-US"/>
              <a:t>Implementation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CDDAE6-E8E6-2D7F-7B28-C22DFFCD6B72}"/>
              </a:ext>
            </a:extLst>
          </p:cNvPr>
          <p:cNvSpPr txBox="1"/>
          <p:nvPr/>
        </p:nvSpPr>
        <p:spPr>
          <a:xfrm>
            <a:off x="693156" y="1341079"/>
            <a:ext cx="8315585" cy="49859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1.Dataset Preparation</a:t>
            </a:r>
            <a:endParaRPr lang="en-US" sz="1600"/>
          </a:p>
          <a:p>
            <a:endParaRPr lang="en-US" sz="1600" b="1"/>
          </a:p>
          <a:p>
            <a:pPr marL="285750" indent="-285750">
              <a:buFont typeface="Arial"/>
              <a:buChar char="•"/>
            </a:pPr>
            <a:r>
              <a:rPr lang="en-US" sz="1600"/>
              <a:t>Selected a </a:t>
            </a:r>
            <a:r>
              <a:rPr lang="en-US" sz="1600" b="1"/>
              <a:t>balanced subset of 5000 images</a:t>
            </a:r>
            <a:r>
              <a:rPr lang="en-US" sz="1600"/>
              <a:t> (2500 parasitized, 2500 uninfected).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All images were </a:t>
            </a:r>
            <a:r>
              <a:rPr lang="en-US" sz="1600" b="1"/>
              <a:t>resized to 64×64 pixels</a:t>
            </a:r>
            <a:r>
              <a:rPr lang="en-US" sz="1600"/>
              <a:t> to maintain uniformity across architectures.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Ensured full reproducibility using </a:t>
            </a:r>
            <a:r>
              <a:rPr lang="en-US" sz="1600" b="1"/>
              <a:t>SEED = 42</a:t>
            </a:r>
            <a:r>
              <a:rPr lang="en-US" sz="1600"/>
              <a:t> for dataset selection and loader shuffling.</a:t>
            </a:r>
          </a:p>
          <a:p>
            <a:br>
              <a:rPr lang="en-US"/>
            </a:br>
            <a:endParaRPr lang="en-US" sz="1600"/>
          </a:p>
          <a:p>
            <a:r>
              <a:rPr lang="en-US" sz="1600" b="1"/>
              <a:t>2. Data Augmentation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/>
              <a:t>Applied augmentations to increase dataset diversity:</a:t>
            </a:r>
          </a:p>
          <a:p>
            <a:pPr marL="285750" lvl="1" indent="-285750">
              <a:buFont typeface="Arial"/>
              <a:buChar char="•"/>
            </a:pPr>
            <a:r>
              <a:rPr lang="en-US" sz="1600"/>
              <a:t>Random horizontal flip</a:t>
            </a:r>
          </a:p>
          <a:p>
            <a:pPr marL="285750" lvl="1" indent="-285750">
              <a:buFont typeface="Arial"/>
              <a:buChar char="•"/>
            </a:pPr>
            <a:r>
              <a:rPr lang="en-US" sz="1600"/>
              <a:t>Random rotation (20°)</a:t>
            </a:r>
          </a:p>
          <a:p>
            <a:pPr marL="285750" lvl="1" indent="-285750">
              <a:buFont typeface="Arial"/>
              <a:buChar char="•"/>
            </a:pPr>
            <a:r>
              <a:rPr lang="en-US" sz="1600"/>
              <a:t>Color jitter (brightness, contrast, saturation)</a:t>
            </a:r>
          </a:p>
          <a:p>
            <a:pPr marL="285750" lvl="1" indent="-285750">
              <a:buFont typeface="Arial"/>
              <a:buChar char="•"/>
            </a:pPr>
            <a:r>
              <a:rPr lang="en-US" sz="1600"/>
              <a:t>Tensor conversion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Ensured augmentation did not distort medically relevant features.</a:t>
            </a:r>
          </a:p>
          <a:p>
            <a:endParaRPr lang="en-US" sz="1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ea typeface="Times New Roman"/>
              <a:cs typeface="Times New Roman"/>
            </a:endParaRPr>
          </a:p>
          <a:p>
            <a:r>
              <a:rPr lang="en-US" sz="1600" b="1"/>
              <a:t>3. Dataset Splitting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Divided the dataset into:</a:t>
            </a:r>
          </a:p>
          <a:p>
            <a:pPr marL="285750" lvl="1" indent="-285750">
              <a:buFont typeface="Arial"/>
              <a:buChar char="•"/>
            </a:pPr>
            <a:r>
              <a:rPr lang="en-US" sz="1600" b="1"/>
              <a:t>70% training</a:t>
            </a:r>
            <a:r>
              <a:rPr lang="en-US" sz="1600"/>
              <a:t>, </a:t>
            </a:r>
            <a:r>
              <a:rPr lang="en-US" sz="1600" b="1"/>
              <a:t>15% validation</a:t>
            </a:r>
            <a:r>
              <a:rPr lang="en-US" sz="1600"/>
              <a:t>, </a:t>
            </a:r>
            <a:r>
              <a:rPr lang="en-US" sz="1600" b="1"/>
              <a:t>15% testing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/>
              <a:t>Provided a reliable balance between training volume and evaluation fairness.</a:t>
            </a:r>
          </a:p>
          <a:p>
            <a:pPr>
              <a:buFont typeface="Arial"/>
              <a:buChar char="•"/>
            </a:pPr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218297361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4D368-D031-33DF-97FF-21221D48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AD91E0-6431-8938-06EA-5204FF1DCCC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71E1CA-6B36-E3E0-86ED-655FF0533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792509"/>
          </a:xfrm>
        </p:spPr>
        <p:txBody>
          <a:bodyPr lIns="45719" tIns="45720" rIns="45719" bIns="45720" anchor="ctr"/>
          <a:lstStyle/>
          <a:p>
            <a:r>
              <a:rPr lang="en-US"/>
              <a:t>Implementation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242ACA-E637-D65A-B127-1308DF85E6DB}"/>
              </a:ext>
            </a:extLst>
          </p:cNvPr>
          <p:cNvSpPr txBox="1"/>
          <p:nvPr/>
        </p:nvSpPr>
        <p:spPr>
          <a:xfrm>
            <a:off x="461396" y="1593908"/>
            <a:ext cx="8315585" cy="47397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/>
              <a:t>4. Classical &amp; Hybrid Architectures</a:t>
            </a:r>
          </a:p>
          <a:p>
            <a:endParaRPr lang="en-US" sz="1800" b="1"/>
          </a:p>
          <a:p>
            <a:pPr marL="285750" indent="-285750">
              <a:buFont typeface="Arial"/>
              <a:buChar char="•"/>
            </a:pPr>
            <a:r>
              <a:rPr lang="en-US" sz="1800"/>
              <a:t>Implemented three classical models: </a:t>
            </a:r>
            <a:r>
              <a:rPr lang="en-US" sz="1800" b="1"/>
              <a:t>Custom CNN</a:t>
            </a:r>
            <a:r>
              <a:rPr lang="en-US" sz="1800"/>
              <a:t>, </a:t>
            </a:r>
            <a:r>
              <a:rPr lang="en-US" sz="1800" b="1"/>
              <a:t>MobileNetV2</a:t>
            </a:r>
            <a:r>
              <a:rPr lang="en-US" sz="1800"/>
              <a:t>, </a:t>
            </a:r>
            <a:r>
              <a:rPr lang="en-US" sz="1800" b="1"/>
              <a:t>ResNet18</a:t>
            </a:r>
            <a:r>
              <a:rPr lang="en-US" sz="180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800"/>
              <a:t>Built corresponding hybrid versions: </a:t>
            </a:r>
            <a:r>
              <a:rPr lang="en-US" sz="1800" b="1"/>
              <a:t>QCNN</a:t>
            </a:r>
            <a:r>
              <a:rPr lang="en-US" sz="1800"/>
              <a:t>, </a:t>
            </a:r>
            <a:r>
              <a:rPr lang="en-US" sz="1800" b="1"/>
              <a:t>Q-MobileNetV2</a:t>
            </a:r>
            <a:r>
              <a:rPr lang="en-US" sz="1800"/>
              <a:t>, </a:t>
            </a:r>
            <a:r>
              <a:rPr lang="en-US" sz="1800" b="1"/>
              <a:t>Q-ResNet18</a:t>
            </a:r>
            <a:r>
              <a:rPr lang="en-US" sz="180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800"/>
              <a:t>Classical backbones extracted </a:t>
            </a:r>
            <a:r>
              <a:rPr lang="en-US" sz="1800" b="1"/>
              <a:t>2–4 features</a:t>
            </a:r>
            <a:r>
              <a:rPr lang="en-US" sz="1800"/>
              <a:t> which served as inputs to the quantum circuit in hybrid models.</a:t>
            </a:r>
          </a:p>
          <a:p>
            <a:br>
              <a:rPr lang="en-US"/>
            </a:br>
            <a:endParaRPr lang="en-US" sz="1800"/>
          </a:p>
          <a:p>
            <a:r>
              <a:rPr lang="en-US" sz="1800" b="1"/>
              <a:t>5. Correlation-Based Circuit Configuration</a:t>
            </a:r>
          </a:p>
          <a:p>
            <a:endParaRPr lang="en-US" sz="1800" b="1"/>
          </a:p>
          <a:p>
            <a:pPr marL="285750" indent="-285750">
              <a:buFont typeface="Arial"/>
              <a:buChar char="•"/>
            </a:pPr>
            <a:r>
              <a:rPr lang="en-US" sz="1800"/>
              <a:t>Computed </a:t>
            </a:r>
            <a:r>
              <a:rPr lang="en-US" sz="1800" b="1"/>
              <a:t>feature correlation matrices</a:t>
            </a:r>
            <a:r>
              <a:rPr lang="en-US" sz="1800"/>
              <a:t> from classical backbones.</a:t>
            </a:r>
          </a:p>
          <a:p>
            <a:pPr marL="285750" indent="-285750">
              <a:buFont typeface="Arial"/>
              <a:buChar char="•"/>
            </a:pPr>
            <a:r>
              <a:rPr lang="en-US" sz="1800"/>
              <a:t>Circuit decision strategy:</a:t>
            </a:r>
          </a:p>
          <a:p>
            <a:pPr marL="285750" lvl="1" indent="-285750">
              <a:buFont typeface="Arial"/>
              <a:buChar char="•"/>
            </a:pPr>
            <a:r>
              <a:rPr lang="en-US" sz="1800"/>
              <a:t>If </a:t>
            </a:r>
            <a:r>
              <a:rPr lang="en-US" sz="1800" b="1"/>
              <a:t>off-diagonal correlation &gt; 0.3</a:t>
            </a:r>
            <a:r>
              <a:rPr lang="en-US" sz="1800"/>
              <a:t> → use </a:t>
            </a:r>
            <a:r>
              <a:rPr lang="en-US" sz="1800" b="1"/>
              <a:t>entanglement + XY rotations</a:t>
            </a:r>
            <a:endParaRPr lang="en-US" sz="1800"/>
          </a:p>
          <a:p>
            <a:pPr marL="285750" lvl="1" indent="-285750">
              <a:buFont typeface="Arial"/>
              <a:buChar char="•"/>
            </a:pPr>
            <a:r>
              <a:rPr lang="en-US" sz="1800"/>
              <a:t>Else → use </a:t>
            </a:r>
            <a:r>
              <a:rPr lang="en-US" sz="1800" b="1"/>
              <a:t>Y rotations only</a:t>
            </a:r>
            <a:r>
              <a:rPr lang="en-US" sz="1800"/>
              <a:t>, no entanglement</a:t>
            </a:r>
          </a:p>
          <a:p>
            <a:pPr marL="285750" indent="-285750">
              <a:buFont typeface="Arial"/>
              <a:buChar char="•"/>
            </a:pPr>
            <a:r>
              <a:rPr lang="en-US" sz="1800"/>
              <a:t>Enabled dynamic selection of quantum circuit complexity based on learned feature relationships.</a:t>
            </a:r>
          </a:p>
          <a:p>
            <a:endParaRPr lang="en-US" sz="1800" b="1"/>
          </a:p>
        </p:txBody>
      </p:sp>
    </p:spTree>
    <p:extLst>
      <p:ext uri="{BB962C8B-B14F-4D97-AF65-F5344CB8AC3E}">
        <p14:creationId xmlns:p14="http://schemas.microsoft.com/office/powerpoint/2010/main" val="104079657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36234-498E-1F89-1D60-1009B444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1C4604-A200-BCD1-0587-3A6BF11B51D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43A50D-752B-72E0-B3A4-3220E824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792509"/>
          </a:xfrm>
        </p:spPr>
        <p:txBody>
          <a:bodyPr lIns="45719" tIns="45720" rIns="45719" bIns="45720" anchor="ctr"/>
          <a:lstStyle/>
          <a:p>
            <a:r>
              <a:rPr lang="en-US"/>
              <a:t>Implementation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445CF-6E52-CEA9-8727-BE71883D8A32}"/>
              </a:ext>
            </a:extLst>
          </p:cNvPr>
          <p:cNvSpPr txBox="1"/>
          <p:nvPr/>
        </p:nvSpPr>
        <p:spPr>
          <a:xfrm>
            <a:off x="598345" y="1404286"/>
            <a:ext cx="8315585" cy="50783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/>
              <a:t>6. Quantum Layer &amp; VQC Implementation</a:t>
            </a:r>
            <a:endParaRPr lang="en-US" sz="1800"/>
          </a:p>
          <a:p>
            <a:endParaRPr lang="en-US" sz="1800" b="1"/>
          </a:p>
          <a:p>
            <a:pPr marL="285750" indent="-285750">
              <a:buFont typeface="Arial"/>
              <a:buChar char="•"/>
            </a:pPr>
            <a:r>
              <a:rPr lang="en-US" sz="1800" b="1"/>
              <a:t>Quantum Layer</a:t>
            </a:r>
            <a:r>
              <a:rPr lang="en-US" sz="1800"/>
              <a:t> maps classical features into a quantum state via </a:t>
            </a:r>
            <a:r>
              <a:rPr lang="en-US" sz="1800" b="1" err="1"/>
              <a:t>AngleEmbedding</a:t>
            </a:r>
            <a:r>
              <a:rPr lang="en-US" sz="1800"/>
              <a:t> (Y or X+Y rotations).</a:t>
            </a:r>
          </a:p>
          <a:p>
            <a:pPr marL="285750" indent="-285750">
              <a:buFont typeface="Arial"/>
              <a:buChar char="•"/>
            </a:pP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 b="1"/>
              <a:t>Quantum Feature Mapping</a:t>
            </a:r>
            <a:r>
              <a:rPr lang="en-US" sz="1800"/>
              <a:t> elevates data to Hilbert space, allowing nonlinear pattern capture.</a:t>
            </a:r>
          </a:p>
          <a:p>
            <a:pPr marL="285750" indent="-285750">
              <a:buFont typeface="Arial"/>
              <a:buChar char="•"/>
            </a:pP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 b="1"/>
              <a:t>Variational Quantum Circuit (VQC)</a:t>
            </a:r>
            <a:r>
              <a:rPr lang="en-US" sz="1800"/>
              <a:t>:</a:t>
            </a:r>
          </a:p>
          <a:p>
            <a:pPr lvl="1" indent="0"/>
            <a:r>
              <a:rPr lang="en-US" sz="1800"/>
              <a:t>  Built using </a:t>
            </a:r>
            <a:r>
              <a:rPr lang="en-US" sz="1800" b="1"/>
              <a:t>Strongly Entangling Layers</a:t>
            </a:r>
            <a:r>
              <a:rPr lang="en-US" sz="1800"/>
              <a:t> with </a:t>
            </a:r>
            <a:r>
              <a:rPr lang="en-US" sz="1800" b="1"/>
              <a:t>2 variational layers</a:t>
            </a:r>
            <a:r>
              <a:rPr lang="en-US" sz="1800"/>
              <a:t> (</a:t>
            </a:r>
            <a:r>
              <a:rPr lang="en-US" sz="1800" err="1">
                <a:latin typeface="Consolas"/>
              </a:rPr>
              <a:t>n_layers</a:t>
            </a:r>
            <a:r>
              <a:rPr lang="en-US" sz="1800">
                <a:latin typeface="Consolas"/>
              </a:rPr>
              <a:t>=2</a:t>
            </a:r>
            <a:r>
              <a:rPr lang="en-US" sz="1800"/>
              <a:t>).</a:t>
            </a:r>
          </a:p>
          <a:p>
            <a:pPr lvl="1" indent="0"/>
            <a:r>
              <a:rPr lang="en-US" sz="1800"/>
              <a:t>        Layers combine </a:t>
            </a:r>
            <a:r>
              <a:rPr lang="en-US" sz="1800" b="1"/>
              <a:t>RX/RY rotations</a:t>
            </a:r>
            <a:r>
              <a:rPr lang="en-US" sz="1800"/>
              <a:t> and </a:t>
            </a:r>
            <a:r>
              <a:rPr lang="en-US" sz="1800" b="1"/>
              <a:t>CX entanglement gates.</a:t>
            </a:r>
            <a:endParaRPr lang="en-US" sz="1800"/>
          </a:p>
          <a:p>
            <a:pPr lvl="1" indent="0"/>
            <a:endParaRPr lang="en-US" sz="1800" b="1"/>
          </a:p>
          <a:p>
            <a:pPr marL="285750" indent="-285750">
              <a:buFont typeface="Arial"/>
              <a:buChar char="•"/>
            </a:pPr>
            <a:r>
              <a:rPr lang="en-US" sz="1800" b="1"/>
              <a:t>Measurement</a:t>
            </a:r>
            <a:r>
              <a:rPr lang="en-US" sz="1800"/>
              <a:t>: Each qubit measured in the </a:t>
            </a:r>
            <a:r>
              <a:rPr lang="en-US" sz="1800" b="1"/>
              <a:t>Pauli-Z basis</a:t>
            </a:r>
            <a:r>
              <a:rPr lang="en-US" sz="1800"/>
              <a:t>, producing one classical value per qubit.</a:t>
            </a:r>
          </a:p>
          <a:p>
            <a:pPr marL="285750" indent="-285750">
              <a:buFont typeface="Arial"/>
              <a:buChar char="•"/>
            </a:pP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 b="1"/>
              <a:t>Classical Head</a:t>
            </a:r>
            <a:r>
              <a:rPr lang="en-US" sz="1800"/>
              <a:t>: Fully connected classifier processes quantum outputs → final binary classification.</a:t>
            </a:r>
          </a:p>
          <a:p>
            <a:pPr marL="285750" indent="-285750">
              <a:buFont typeface="Arial"/>
              <a:buChar char="•"/>
            </a:pPr>
            <a:endParaRPr lang="en-US" sz="1800" b="1"/>
          </a:p>
        </p:txBody>
      </p:sp>
    </p:spTree>
    <p:extLst>
      <p:ext uri="{BB962C8B-B14F-4D97-AF65-F5344CB8AC3E}">
        <p14:creationId xmlns:p14="http://schemas.microsoft.com/office/powerpoint/2010/main" val="331488801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AFA5B-A652-C5A4-B8CC-59ED6184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32E1A-86EC-4DE7-52BB-D4497204B3A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50DFA0-5462-3168-0C91-29615B213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792509"/>
          </a:xfrm>
        </p:spPr>
        <p:txBody>
          <a:bodyPr lIns="45719" tIns="45720" rIns="45719" bIns="45720" anchor="ctr"/>
          <a:lstStyle/>
          <a:p>
            <a:r>
              <a:rPr lang="en-US"/>
              <a:t>Implementation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DE9ED-7DC9-320C-EC3D-65F64C52444B}"/>
              </a:ext>
            </a:extLst>
          </p:cNvPr>
          <p:cNvSpPr txBox="1"/>
          <p:nvPr/>
        </p:nvSpPr>
        <p:spPr>
          <a:xfrm>
            <a:off x="598345" y="1404286"/>
            <a:ext cx="831558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800" b="1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A302FEBD-E969-094A-54A6-BD3D77D79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893" y="1284975"/>
            <a:ext cx="5390317" cy="490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656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1ECC5-6394-1A7F-2E55-9033EF0E3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2DA57D-42DB-CC60-63D9-C2F30AD5F7D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83115A-A132-8204-F5ED-2C85C10FD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792509"/>
          </a:xfrm>
        </p:spPr>
        <p:txBody>
          <a:bodyPr lIns="45719" tIns="45720" rIns="45719" bIns="45720" anchor="ctr"/>
          <a:lstStyle/>
          <a:p>
            <a:r>
              <a:rPr lang="en-US"/>
              <a:t>Implementation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BE829-F732-399E-A074-5DBAC2C95E85}"/>
              </a:ext>
            </a:extLst>
          </p:cNvPr>
          <p:cNvSpPr txBox="1"/>
          <p:nvPr/>
        </p:nvSpPr>
        <p:spPr>
          <a:xfrm>
            <a:off x="461396" y="1593908"/>
            <a:ext cx="8315585" cy="3908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/>
              <a:t>7. Training Configuration</a:t>
            </a:r>
          </a:p>
          <a:p>
            <a:endParaRPr lang="en-US" sz="1800" b="1"/>
          </a:p>
          <a:p>
            <a:r>
              <a:rPr lang="en-US" sz="1800"/>
              <a:t>Common hyperparameters:</a:t>
            </a:r>
          </a:p>
          <a:p>
            <a:pPr marL="285750" lvl="1" indent="-285750">
              <a:buFont typeface="Arial"/>
              <a:buChar char="•"/>
            </a:pPr>
            <a:r>
              <a:rPr lang="en-US" sz="1800" b="1"/>
              <a:t>40 epochs</a:t>
            </a:r>
            <a:r>
              <a:rPr lang="en-US" sz="1800"/>
              <a:t>, </a:t>
            </a:r>
            <a:r>
              <a:rPr lang="en-US" sz="1800" b="1"/>
              <a:t>batch size 32</a:t>
            </a:r>
            <a:r>
              <a:rPr lang="en-US" sz="1800"/>
              <a:t>, </a:t>
            </a:r>
            <a:r>
              <a:rPr lang="en-US" sz="1800" b="1"/>
              <a:t>learning rate 0.001</a:t>
            </a:r>
            <a:r>
              <a:rPr lang="en-US" sz="1800"/>
              <a:t>, </a:t>
            </a:r>
            <a:r>
              <a:rPr lang="en-US" sz="1800" b="1"/>
              <a:t>Adam optimizer</a:t>
            </a:r>
            <a:endParaRPr lang="en-US" sz="1800"/>
          </a:p>
          <a:p>
            <a:pPr marL="285750" lvl="1" indent="-285750">
              <a:buFont typeface="Arial"/>
              <a:buChar char="•"/>
            </a:pPr>
            <a:r>
              <a:rPr lang="en-US" sz="1800" b="1" err="1"/>
              <a:t>CrossEntropyLoss</a:t>
            </a:r>
            <a:r>
              <a:rPr lang="en-US" sz="1800"/>
              <a:t> for binary output.</a:t>
            </a:r>
          </a:p>
          <a:p>
            <a:br>
              <a:rPr lang="en-US"/>
            </a:br>
            <a:endParaRPr lang="en-US" sz="1800"/>
          </a:p>
          <a:p>
            <a:r>
              <a:rPr lang="en-US" sz="1800" b="1"/>
              <a:t>8. Evaluation Metrics</a:t>
            </a:r>
            <a:endParaRPr lang="en-US" sz="1800"/>
          </a:p>
          <a:p>
            <a:pPr marL="285750" indent="-285750">
              <a:buFont typeface="Arial"/>
              <a:buChar char="•"/>
            </a:pPr>
            <a:r>
              <a:rPr lang="en-US" sz="1800"/>
              <a:t>Models evaluated using:</a:t>
            </a:r>
          </a:p>
          <a:p>
            <a:pPr marL="285750" lvl="1" indent="-285750">
              <a:buFont typeface="Arial"/>
              <a:buChar char="•"/>
            </a:pPr>
            <a:r>
              <a:rPr lang="en-US" sz="1800"/>
              <a:t>Accuracy, precision, recall, F1-score</a:t>
            </a:r>
          </a:p>
          <a:p>
            <a:pPr marL="285750" lvl="1" indent="-285750">
              <a:buFont typeface="Arial"/>
              <a:buChar char="•"/>
            </a:pPr>
            <a:r>
              <a:rPr lang="en-US" sz="1800"/>
              <a:t>Full classification report</a:t>
            </a:r>
          </a:p>
          <a:p>
            <a:pPr marL="285750" lvl="1" indent="-285750">
              <a:buFont typeface="Arial"/>
              <a:buChar char="•"/>
            </a:pPr>
            <a:r>
              <a:rPr lang="en-US" sz="1800"/>
              <a:t>Confusion matrix</a:t>
            </a:r>
          </a:p>
          <a:p>
            <a:pPr marL="285750" indent="-285750">
              <a:buFont typeface="Arial"/>
              <a:buChar char="•"/>
            </a:pPr>
            <a:r>
              <a:rPr lang="en-US" sz="1800"/>
              <a:t>Enabled systematic comparison of all classical and hybrid models.</a:t>
            </a:r>
          </a:p>
          <a:p>
            <a:endParaRPr lang="en-US" sz="1800" b="1"/>
          </a:p>
        </p:txBody>
      </p:sp>
    </p:spTree>
    <p:extLst>
      <p:ext uri="{BB962C8B-B14F-4D97-AF65-F5344CB8AC3E}">
        <p14:creationId xmlns:p14="http://schemas.microsoft.com/office/powerpoint/2010/main" val="358903135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48A786-DED2-525A-08D0-E1BE40AE2B8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595F95-2A36-3571-3387-93B04260A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931656"/>
          </a:xfrm>
        </p:spPr>
        <p:txBody>
          <a:bodyPr/>
          <a:lstStyle/>
          <a:p>
            <a:r>
              <a:rPr lang="en-US"/>
              <a:t>Results and Discussion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BCE7DB-D6A8-D6F2-94C6-002766EE16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472772"/>
              </p:ext>
            </p:extLst>
          </p:nvPr>
        </p:nvGraphicFramePr>
        <p:xfrm>
          <a:off x="503339" y="1877036"/>
          <a:ext cx="8200595" cy="3613032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1640119">
                  <a:extLst>
                    <a:ext uri="{9D8B030D-6E8A-4147-A177-3AD203B41FA5}">
                      <a16:colId xmlns:a16="http://schemas.microsoft.com/office/drawing/2014/main" val="3866387544"/>
                    </a:ext>
                  </a:extLst>
                </a:gridCol>
                <a:gridCol w="1640119">
                  <a:extLst>
                    <a:ext uri="{9D8B030D-6E8A-4147-A177-3AD203B41FA5}">
                      <a16:colId xmlns:a16="http://schemas.microsoft.com/office/drawing/2014/main" val="1162757472"/>
                    </a:ext>
                  </a:extLst>
                </a:gridCol>
                <a:gridCol w="1640119">
                  <a:extLst>
                    <a:ext uri="{9D8B030D-6E8A-4147-A177-3AD203B41FA5}">
                      <a16:colId xmlns:a16="http://schemas.microsoft.com/office/drawing/2014/main" val="2593334345"/>
                    </a:ext>
                  </a:extLst>
                </a:gridCol>
                <a:gridCol w="1640119">
                  <a:extLst>
                    <a:ext uri="{9D8B030D-6E8A-4147-A177-3AD203B41FA5}">
                      <a16:colId xmlns:a16="http://schemas.microsoft.com/office/drawing/2014/main" val="855495523"/>
                    </a:ext>
                  </a:extLst>
                </a:gridCol>
                <a:gridCol w="1640119">
                  <a:extLst>
                    <a:ext uri="{9D8B030D-6E8A-4147-A177-3AD203B41FA5}">
                      <a16:colId xmlns:a16="http://schemas.microsoft.com/office/drawing/2014/main" val="1180955432"/>
                    </a:ext>
                  </a:extLst>
                </a:gridCol>
              </a:tblGrid>
              <a:tr h="327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Accuracy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062145"/>
                  </a:ext>
                </a:extLst>
              </a:tr>
              <a:tr h="327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Classical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92.93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0.9287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232922"/>
                  </a:ext>
                </a:extLst>
              </a:tr>
              <a:tr h="54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Classical MobileNetV2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0.6020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0.6293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0.6154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990628"/>
                  </a:ext>
                </a:extLst>
              </a:tr>
              <a:tr h="54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Classical ResNet18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87.87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0.8515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0.9173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0.8832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030455"/>
                  </a:ext>
                </a:extLst>
              </a:tr>
              <a:tr h="327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QCNN (2 qubits)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87.60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0.8597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0.8787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866914"/>
                  </a:ext>
                </a:extLst>
              </a:tr>
              <a:tr h="327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QCNN (3 qubits)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92.67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0.9467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0.9281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223102"/>
                  </a:ext>
                </a:extLst>
              </a:tr>
              <a:tr h="327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QCNN (4 qubits)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93.47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0.9493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0.9356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8569486"/>
                  </a:ext>
                </a:extLst>
              </a:tr>
              <a:tr h="549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Q-MobileNetV2 (4q)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87.07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0.8620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0.8827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0.8722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011422"/>
                  </a:ext>
                </a:extLst>
              </a:tr>
              <a:tr h="327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Q-ResNet18 (4q)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86.00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0.8444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0.8827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0.8631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145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296779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CE73A-9F75-3C09-4DED-C653A4C9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448F1E-FA4B-6E33-89B0-28BCEA43AC7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37DF95-A4A0-BE09-58B5-6D61948C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931656"/>
          </a:xfrm>
        </p:spPr>
        <p:txBody>
          <a:bodyPr/>
          <a:lstStyle/>
          <a:p>
            <a:r>
              <a:rPr lang="en-US"/>
              <a:t>Results and Discussion</a:t>
            </a:r>
          </a:p>
        </p:txBody>
      </p:sp>
      <p:pic>
        <p:nvPicPr>
          <p:cNvPr id="4" name="Picture 3" descr="A diagram of a confusion matrix&#10;&#10;AI-generated content may be incorrect.">
            <a:extLst>
              <a:ext uri="{FF2B5EF4-FFF2-40B4-BE49-F238E27FC236}">
                <a16:creationId xmlns:a16="http://schemas.microsoft.com/office/drawing/2014/main" id="{A461CDEB-F097-6FA3-D737-32D44FD35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47" y="2423863"/>
            <a:ext cx="3412485" cy="2864054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29286C-DBFF-C65B-ECD5-8D0CC8C1A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135" y="2842836"/>
            <a:ext cx="4768667" cy="20165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0E722B-4C26-B79E-17A5-F48FDC2EB5C1}"/>
              </a:ext>
            </a:extLst>
          </p:cNvPr>
          <p:cNvSpPr txBox="1"/>
          <p:nvPr/>
        </p:nvSpPr>
        <p:spPr>
          <a:xfrm>
            <a:off x="4896751" y="2027027"/>
            <a:ext cx="2983602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/>
              <a:t>Classification Report</a:t>
            </a:r>
            <a:endParaRPr kumimoji="0" lang="en-GB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CFB869-750C-F281-90EE-5A4BB112786A}"/>
              </a:ext>
            </a:extLst>
          </p:cNvPr>
          <p:cNvSpPr txBox="1"/>
          <p:nvPr/>
        </p:nvSpPr>
        <p:spPr>
          <a:xfrm>
            <a:off x="2345885" y="1252657"/>
            <a:ext cx="4782873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/>
              <a:t>Report of Best Model QCNN with 4 qubits</a:t>
            </a:r>
            <a:endParaRPr lang="en-GB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711543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C00A7B-E2A1-0E9F-261A-1C1B3C27D05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6590D3-9EF3-DAE1-7308-1F49263B3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792509"/>
          </a:xfrm>
        </p:spPr>
        <p:txBody>
          <a:bodyPr/>
          <a:lstStyle/>
          <a:p>
            <a:r>
              <a:rPr lang="en-US"/>
              <a:t>Innovation/Critical Insight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4495A-AC86-9E06-7614-9C046C6FE6E0}"/>
              </a:ext>
            </a:extLst>
          </p:cNvPr>
          <p:cNvSpPr txBox="1"/>
          <p:nvPr/>
        </p:nvSpPr>
        <p:spPr>
          <a:xfrm>
            <a:off x="461396" y="1593908"/>
            <a:ext cx="8315585" cy="44935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600" b="1">
                <a:latin typeface="Arial"/>
              </a:rPr>
              <a:t>Systematic Quantum Exploration: </a:t>
            </a:r>
            <a:r>
              <a:rPr lang="en-US" sz="1600">
                <a:latin typeface="Arial"/>
              </a:rPr>
              <a:t>Conducted controlled experiments by varying qubit counts (2, 3, and 4 qubits) to identify the optimal quantum capacity; results showed 4 qubits consistently delivered the highest accuracy (93.47%) without excessive simulation overhead.</a:t>
            </a:r>
          </a:p>
          <a:p>
            <a:pPr marL="228600" indent="-228600">
              <a:buFont typeface=""/>
              <a:buChar char="•"/>
            </a:pPr>
            <a:endParaRPr lang="en-US" sz="1600">
              <a:latin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600" b="1">
                <a:latin typeface="Arial"/>
              </a:rPr>
              <a:t>Adaptive Model Refinement: </a:t>
            </a:r>
            <a:r>
              <a:rPr lang="en-US" sz="1600">
                <a:latin typeface="Arial"/>
              </a:rPr>
              <a:t>Based on the qubit optimization study, standardized all hybrid models (QCNN, Q-MobileNetV2, Q-</a:t>
            </a:r>
            <a:r>
              <a:rPr lang="en-US" sz="1600" err="1">
                <a:latin typeface="Arial"/>
              </a:rPr>
              <a:t>ResNet</a:t>
            </a:r>
            <a:r>
              <a:rPr lang="en-US" sz="1600">
                <a:latin typeface="Arial"/>
              </a:rPr>
              <a:t>) to 4-qubit VQCs to ensure fairness, stability, and meaningful cross-model comparison.</a:t>
            </a:r>
          </a:p>
          <a:p>
            <a:pPr marL="228600" indent="-228600">
              <a:buFont typeface=""/>
              <a:buChar char="•"/>
            </a:pPr>
            <a:endParaRPr lang="en-US" sz="1600">
              <a:latin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600" b="1">
                <a:latin typeface="Arial"/>
              </a:rPr>
              <a:t>Architectural Diversity Testing: </a:t>
            </a:r>
            <a:r>
              <a:rPr lang="en-US" sz="1600">
                <a:latin typeface="Arial"/>
              </a:rPr>
              <a:t>Explored how different feature extractors interact with quantum layers—demonstrating that quantum layers can significantly enhance lightweight networks (e.g., Q-</a:t>
            </a:r>
            <a:r>
              <a:rPr lang="en-US" sz="1600" err="1">
                <a:latin typeface="Arial"/>
              </a:rPr>
              <a:t>MobileNet</a:t>
            </a:r>
            <a:r>
              <a:rPr lang="en-US" sz="1600">
                <a:latin typeface="Arial"/>
              </a:rPr>
              <a:t> outperforming </a:t>
            </a:r>
            <a:r>
              <a:rPr lang="en-US" sz="1600" err="1">
                <a:latin typeface="Arial"/>
              </a:rPr>
              <a:t>MobileNet</a:t>
            </a:r>
            <a:r>
              <a:rPr lang="en-US" sz="1600">
                <a:latin typeface="Arial"/>
              </a:rPr>
              <a:t>) and boost representational richness in deeper models.</a:t>
            </a:r>
          </a:p>
          <a:p>
            <a:pPr marL="228600" indent="-228600">
              <a:buFont typeface=""/>
              <a:buChar char="•"/>
            </a:pPr>
            <a:endParaRPr lang="en-US" sz="1600">
              <a:latin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600" b="1">
                <a:latin typeface="Arial"/>
              </a:rPr>
              <a:t>Evidence-Driven Methodology: </a:t>
            </a:r>
            <a:r>
              <a:rPr lang="en-US" sz="1600">
                <a:latin typeface="Arial"/>
              </a:rPr>
              <a:t>Used real metric outcomes (accuracy, precision, recall, F1-score, confusion matrices) to iteratively refine design decisions, ensuring that conclusions are based on measurable performance rather than theoretical assumptions.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630290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51376-5A68-BB7A-CC13-859AFC1C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>
            <a:extLst>
              <a:ext uri="{FF2B5EF4-FFF2-40B4-BE49-F238E27FC236}">
                <a16:creationId xmlns:a16="http://schemas.microsoft.com/office/drawing/2014/main" id="{B8253572-4AD7-2C30-6B1B-21975BBEECA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sp>
        <p:nvSpPr>
          <p:cNvPr id="142" name="Rectangle">
            <a:extLst>
              <a:ext uri="{FF2B5EF4-FFF2-40B4-BE49-F238E27FC236}">
                <a16:creationId xmlns:a16="http://schemas.microsoft.com/office/drawing/2014/main" id="{AB27120C-3EAB-192B-0A14-17378EA29AB2}"/>
              </a:ext>
            </a:extLst>
          </p:cNvPr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 sz="2800">
                <a:latin typeface="+mn-lt"/>
                <a:ea typeface="+mn-ea"/>
                <a:cs typeface="+mn-cs"/>
                <a:sym typeface="Arial"/>
              </a:defRPr>
            </a:pPr>
            <a:r>
              <a:rPr lang="en-US"/>
              <a:t>References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E7C0A-396C-5BE5-979A-2F8B64116D8A}"/>
              </a:ext>
            </a:extLst>
          </p:cNvPr>
          <p:cNvSpPr txBox="1"/>
          <p:nvPr/>
        </p:nvSpPr>
        <p:spPr>
          <a:xfrm>
            <a:off x="734037" y="1457587"/>
            <a:ext cx="7770302" cy="46166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b="1"/>
              <a:t>Rajaraman et al. (2018)</a:t>
            </a:r>
            <a:r>
              <a:rPr lang="en-US"/>
              <a:t> – Demonstrated that pre-trained CNNs can serve as strong feature extractors for malaria parasite detection in thin blood smear images.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/>
              <a:t>Liang et al. (2019)</a:t>
            </a:r>
            <a:r>
              <a:rPr lang="en-US"/>
              <a:t> – Proposed an end-to-end deep CNN framework for automated malaria diagnosis using high-resolution smear images.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 err="1"/>
              <a:t>Sriporn</a:t>
            </a:r>
            <a:r>
              <a:rPr lang="en-US" b="1"/>
              <a:t> &amp; </a:t>
            </a:r>
            <a:r>
              <a:rPr lang="en-US" b="1" err="1"/>
              <a:t>Wilaiprasitporn</a:t>
            </a:r>
            <a:r>
              <a:rPr lang="en-US" b="1"/>
              <a:t> (2020)</a:t>
            </a:r>
            <a:r>
              <a:rPr lang="en-US"/>
              <a:t> – Compared </a:t>
            </a:r>
            <a:r>
              <a:rPr lang="en-US" err="1"/>
              <a:t>ResNet</a:t>
            </a:r>
            <a:r>
              <a:rPr lang="en-US"/>
              <a:t>, </a:t>
            </a:r>
            <a:r>
              <a:rPr lang="en-US" err="1"/>
              <a:t>Xception</a:t>
            </a:r>
            <a:r>
              <a:rPr lang="en-US"/>
              <a:t>, VGG, and other deep learning architectures for malaria detection, showing </a:t>
            </a:r>
            <a:r>
              <a:rPr lang="en-US" err="1"/>
              <a:t>ResNet’s</a:t>
            </a:r>
            <a:r>
              <a:rPr lang="en-US"/>
              <a:t> strong performance.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/>
              <a:t>Patel &amp; Shah (2020)</a:t>
            </a:r>
            <a:r>
              <a:rPr lang="en-US"/>
              <a:t> – Introduced lightweight CNN architectures suitable for mobile and edge-based malaria screening in low-resource environments.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/>
              <a:t>Banerjee et al. (2022)</a:t>
            </a:r>
            <a:r>
              <a:rPr lang="en-US"/>
              <a:t> – Developed a hybrid residual-attention network combined with SVM for improved parasite identification accuracy.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/>
              <a:t>Hassan &amp; Zhang (2022)</a:t>
            </a:r>
            <a:r>
              <a:rPr lang="en-US"/>
              <a:t> – Utilized transformer and attention-based vision models for interpretable, globally contextual malaria parasite detection.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b="1"/>
              <a:t>Kumar &amp; Gupta (2021)</a:t>
            </a:r>
            <a:r>
              <a:rPr lang="en-US"/>
              <a:t> – Explored a hybrid quantum–classical CNN architecture using parameterized quantum circuits for malaria parasite classification.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243758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D55DAB5EF2644A8A41D6D299B4B93C" ma:contentTypeVersion="10" ma:contentTypeDescription="Create a new document." ma:contentTypeScope="" ma:versionID="bfb6365de693bb2b1f69156a989f18bc">
  <xsd:schema xmlns:xsd="http://www.w3.org/2001/XMLSchema" xmlns:xs="http://www.w3.org/2001/XMLSchema" xmlns:p="http://schemas.microsoft.com/office/2006/metadata/properties" xmlns:ns3="ae9601a0-740a-4540-ae2c-08d70eaa164d" targetNamespace="http://schemas.microsoft.com/office/2006/metadata/properties" ma:root="true" ma:fieldsID="c74b58b0ea301527a96304dbd6b0b543" ns3:_="">
    <xsd:import namespace="ae9601a0-740a-4540-ae2c-08d70eaa16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601a0-740a-4540-ae2c-08d70eaa16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e9601a0-740a-4540-ae2c-08d70eaa164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A3C393-9572-4723-B17D-C2C784131E5E}">
  <ds:schemaRefs>
    <ds:schemaRef ds:uri="ae9601a0-740a-4540-ae2c-08d70eaa16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2978464-1A2A-43EF-BF05-2173A4DC4FBE}">
  <ds:schemaRefs>
    <ds:schemaRef ds:uri="ae9601a0-740a-4540-ae2c-08d70eaa164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8427EC4-05E5-42A7-A075-10F6245EDD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11_Default Design</vt:lpstr>
      <vt:lpstr> Quantum-Classical Hybrid Classification for Malaria Cell Images </vt:lpstr>
      <vt:lpstr>Introduction/Motivation</vt:lpstr>
      <vt:lpstr>Problem Statement</vt:lpstr>
      <vt:lpstr>Proposed Objectives</vt:lpstr>
      <vt:lpstr>Dataset Details </vt:lpstr>
      <vt:lpstr>PowerPoint Presentation</vt:lpstr>
      <vt:lpstr>PowerPoint Presentation</vt:lpstr>
      <vt:lpstr>PowerPoint Presentation</vt:lpstr>
      <vt:lpstr>   </vt:lpstr>
      <vt:lpstr>   </vt:lpstr>
      <vt:lpstr>   </vt:lpstr>
      <vt:lpstr>   </vt:lpstr>
      <vt:lpstr>Implementation Details</vt:lpstr>
      <vt:lpstr>Implementation Details</vt:lpstr>
      <vt:lpstr>Implementation Details</vt:lpstr>
      <vt:lpstr>Implementation Details</vt:lpstr>
      <vt:lpstr>Implementation Details</vt:lpstr>
      <vt:lpstr>Results and Discussion</vt:lpstr>
      <vt:lpstr>Results and Discussion</vt:lpstr>
      <vt:lpstr>Innovation/Critical Insight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revision>2</cp:revision>
  <dcterms:modified xsi:type="dcterms:W3CDTF">2025-11-21T06:40:00Z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0x010100A1D55DAB5EF2644A8A41D6D299B4B93C</vt:lpwstr>
  </property>
</Properties>
</file>